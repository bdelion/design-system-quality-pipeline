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100" b="1">
                <a:solidFill>
                  <a:srgbClr val="2C63A8"/>
                </a:solidFill>
                <a:latin typeface="Aptos"/>
              </a:rPr>
              <a:t>PLUME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1887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3100" b="1">
                <a:solidFill>
                  <a:srgbClr val="18263A"/>
                </a:solidFill>
                <a:latin typeface="Aptos"/>
              </a:rPr>
              <a:t>Du pilotage des repositories
au pilotage du 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146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0">
                <a:solidFill>
                  <a:srgbClr val="687380"/>
                </a:solidFill>
                <a:latin typeface="Aptos"/>
              </a:rPr>
              <a:t>Vision long terme • V1 proposée • impacts • questions à challenger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64008" cy="123444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76472"/>
            <a:ext cx="29718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Aujourd'hui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60520"/>
            <a:ext cx="297180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Code • Issues • PR • Audits • Releases
Informations dispersées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65760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657600"/>
            <a:ext cx="64008" cy="123444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3776472"/>
            <a:ext cx="25603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160520"/>
            <a:ext cx="256032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Catalogue • qualité • RGAA
versions • historique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6576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657600"/>
            <a:ext cx="64008" cy="1234440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3776472"/>
            <a:ext cx="31546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4160520"/>
            <a:ext cx="31546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Relations • adoption
impact à l'échelle du 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864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Objectif : présenter une direction, vérifier qu'elle répond aux besoins et identifier ce que nous avons oublié.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01 • POURQUOI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Le problème n'est pas le manque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Nous avons déjà beaucoup d'informations. Le problème est de les relier et de les rendre exploitables.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486400" cy="3566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0">
                <a:solidFill>
                  <a:srgbClr val="2A313A"/>
                </a:solidFill>
                <a:latin typeface="Aptos"/>
              </a:rPr>
              <a:t>• Les composants évoluent au fil des versions.
• Les audits RGAA, anomalies et corrections vivent dans GitHub.
• Les releases portent des changements techniques et fonctionnels.
• Catalogue, documentation et données de qualité ne sont pas encore consolidés.
• Les impacts sur les consommateurs restent difficiles à établir.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828800"/>
            <a:ext cx="64008" cy="91440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947672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exports • versions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82880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1828800"/>
            <a:ext cx="64008" cy="91440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947672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33172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issues • PR • releases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06324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063240"/>
            <a:ext cx="64008" cy="914400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182112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RGAA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56616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audits • anomalies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06324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3063240"/>
            <a:ext cx="64008" cy="914400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3182112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Docs / Figma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356616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références • liens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34340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4343400"/>
            <a:ext cx="64008" cy="914400"/>
          </a:xfrm>
          <a:prstGeom prst="rect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4462272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84632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versions • usages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486400"/>
            <a:ext cx="36576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800" b="1">
                <a:solidFill>
                  <a:srgbClr val="18263A"/>
                </a:solidFill>
                <a:latin typeface="Aptos"/>
              </a:rPr>
              <a:t>Vision consolidée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02 •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Construire une représentation exploitable du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« Digital Twin » décrit ici une ambition produit : connaître l'état, l'évolution, la qualité, les relations, les usages et les impacts.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240280"/>
            <a:ext cx="2971800" cy="960120"/>
          </a:xfrm>
          <a:prstGeom prst="round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487168"/>
            <a:ext cx="26974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1865376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697AD"/>
                </a:solidFill>
                <a:latin typeface="Aptos"/>
              </a:rPr>
              <a:t>Composants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4612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447288"/>
            <a:ext cx="1865376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C63A8"/>
                </a:solidFill>
                <a:latin typeface="Aptos"/>
              </a:rPr>
              <a:t>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2029968"/>
            <a:ext cx="1865376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DA8534"/>
                </a:solidFill>
                <a:latin typeface="Aptos"/>
              </a:rPr>
              <a:t>Qualité / RGAA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24612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3447288"/>
            <a:ext cx="1865376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6F57A1"/>
                </a:solidFill>
                <a:latin typeface="Aptos"/>
              </a:rPr>
              <a:t>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66344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864607"/>
            <a:ext cx="1865376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388E5D"/>
                </a:solidFill>
                <a:latin typeface="Aptos"/>
              </a:rP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20116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687380"/>
                </a:solidFill>
                <a:latin typeface="Aptos"/>
              </a:rPr>
              <a:t>Observer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623560"/>
            <a:ext cx="20116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687380"/>
                </a:solidFill>
                <a:latin typeface="Aptos"/>
              </a:rPr>
              <a:t>Comprendre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623560"/>
            <a:ext cx="20116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687380"/>
                </a:solidFill>
                <a:latin typeface="Aptos"/>
              </a:rPr>
              <a:t>Anticiper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03 • QUESTIONS CIBLES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Ce que nous voudrions pouvoir répondre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La valeur n'est pas dans le dashboard lui-même, mais dans les réponses qu'il permet d'obtenir.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078992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Évolution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4800600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Qu'est-ce qui a changé entre deux versions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1078992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947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Qualité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331720"/>
            <a:ext cx="4800600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La librairie est-elle en meilleure santé qu'il y a 6 mois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00400"/>
            <a:ext cx="64008" cy="1078992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192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RGAA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703320"/>
            <a:ext cx="4800600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Quels composants sont audités, conformes, obsolètes ou restent à traiter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004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00400"/>
            <a:ext cx="64008" cy="1078992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3192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Traçabilité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703320"/>
            <a:ext cx="4800600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Quelle anomalie a conduit à quelle correction et dans quelle release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45720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4572000"/>
            <a:ext cx="64008" cy="1078992"/>
          </a:xfrm>
          <a:prstGeom prst="rect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6908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074920"/>
            <a:ext cx="4800600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Si Button change, quels composants et applications sont potentiellement concernés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04 • TRAJECTOIRE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Une vision en trois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Les phases 2 et 3 sont une direction cible à challenger, pas un engagement de réalisation immédiat.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566928"/>
          </a:xfrm>
          <a:prstGeom prst="round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6596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Repository Governance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3063240" cy="2560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A313A"/>
                </a:solidFill>
                <a:latin typeface="Aptos"/>
              </a:rPr>
              <a:t>• Collecte GitHub
• Catalogue
• Versions
• Audits / RGAA
• Releases
• Historique / KPI / DQ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82880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7" y="1828800"/>
            <a:ext cx="3520440" cy="566928"/>
          </a:xfrm>
          <a:prstGeom prst="round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196596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965960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Dependency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97480"/>
            <a:ext cx="3063240" cy="2560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A313A"/>
                </a:solidFill>
                <a:latin typeface="Aptos"/>
              </a:rPr>
              <a:t>• Relations composants
• Composition
• Remplacements
• Versions
• Graphe navigable
• Premières analyses d'impact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82880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1828800"/>
            <a:ext cx="3520440" cy="566928"/>
          </a:xfrm>
          <a:prstGeom prst="roundRect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96596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1965960"/>
            <a:ext cx="242316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Application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697480"/>
            <a:ext cx="3063240" cy="2560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A313A"/>
                </a:solidFill>
                <a:latin typeface="Aptos"/>
              </a:rPr>
              <a:t>• Applications consommatrices
• Composants utilisés
• Nombre d'usages
• Risque / qualité
• Impact des breaking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05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Le périmètre proposé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Trois repositories de librairies aujourd'hui, avec une capacité d'extension à d'autres technologies demain.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96012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plume-react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1089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Repository analysé en 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64008" cy="96012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476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plume-react-enterprise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31089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Repository analysé en 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64008" cy="96012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9476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enterprise-assets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331720"/>
            <a:ext cx="31089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Repository analysé en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22860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Artefacts suivis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457200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A313A"/>
                </a:solidFill>
                <a:latin typeface="Aptos"/>
              </a:rPr>
              <a:t>• Composants
• Hooks
• Patterns
• Pages / Layouts
• Assets
•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484632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Identité : plume-react/Button et plume-react-enterprise/Button sont deux composants distincts.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484632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400" b="0">
                <a:solidFill>
                  <a:srgbClr val="2A313A"/>
                </a:solidFill>
                <a:latin typeface="Aptos"/>
              </a:rPr>
              <a:t>Le composant reste une identité stable ; son état et son évolution sont observés par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06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Catalogue : automatiser sans perdre la gouvernance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 code est la source principale de l'existence technique ; le catalogue permet de compléter, corriger et gouverner.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192024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4767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06324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Exports • noms • versions • présence
Détection automatique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64008" cy="192024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94767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Catalogue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331720"/>
            <a:ext cx="306324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Métadonnées gouvernées
Corrections / compléments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1920240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947672"/>
            <a:ext cx="30632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31720"/>
            <a:ext cx="306324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Croisement code ↔ catalogue ↔ labels
Signalement des incohérences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4241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Nouveau composant détecté → création automatique dans le catalogue → marqueur / notification.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4241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Composant disparu du code → passage automatique en « removed » → marqueur / notification.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07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Versions : comprendre ce qui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Une version est un état réel du repository. Le composant reste une identité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2926080"/>
            <a:ext cx="9601200" cy="0"/>
          </a:xfrm>
          <a:prstGeom prst="line">
            <a:avLst/>
          </a:prstGeom>
          <a:ln w="381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97280" y="2743200"/>
            <a:ext cx="365760" cy="365760"/>
          </a:xfrm>
          <a:prstGeom prst="ellipse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8263A"/>
                </a:solidFill>
                <a:latin typeface="Aptos"/>
              </a:rPr>
              <a:t>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créé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2148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8263A"/>
                </a:solidFill>
                <a:latin typeface="Aptos"/>
              </a:rPr>
              <a:t>1.2.0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38328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modifié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2743200"/>
            <a:ext cx="365760" cy="365760"/>
          </a:xfrm>
          <a:prstGeom prst="ellipse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2148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8263A"/>
                </a:solidFill>
                <a:latin typeface="Aptos"/>
              </a:rPr>
              <a:t>1.4.0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38328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audité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BF4C4C"/>
          </a:solidFill>
          <a:ln>
            <a:solidFill>
              <a:srgbClr val="B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148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8263A"/>
                </a:solidFill>
                <a:latin typeface="Aptos"/>
              </a:rPr>
              <a:t>1.6.0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38328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breaking change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2743200"/>
            <a:ext cx="365760" cy="365760"/>
          </a:xfrm>
          <a:prstGeom prst="ellipse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148840"/>
            <a:ext cx="1188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300" b="1">
                <a:solidFill>
                  <a:srgbClr val="18263A"/>
                </a:solidFill>
                <a:latin typeface="Aptos"/>
              </a:rPr>
              <a:t>2.0.0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83280"/>
            <a:ext cx="1645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5760720" cy="1463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0">
                <a:solidFill>
                  <a:srgbClr val="2A313A"/>
                </a:solidFill>
                <a:latin typeface="Aptos"/>
              </a:rPr>
              <a:t>• création / modification / suppression
• familles de changements si possible
• breaking changes calculés à partir de l'API publique
• état RGAA / audit applicable à la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34840"/>
            <a:ext cx="4297680" cy="777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600" b="1">
                <a:solidFill>
                  <a:srgbClr val="BF4C4C"/>
                </a:solidFill>
                <a:latin typeface="Aptos"/>
              </a:rPr>
              <a:t>On ne crée pas Button@1.0.0, Button@1.2.0, etc. comme composants distincts.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08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RGAA : de l'audit à la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L'audit devient une entité traçable dans le temps ; les anomalies suivent le cycle de travail de la squad.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64008" cy="1508760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60320"/>
            <a:ext cx="224028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Composant + version
+ auditeur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57400"/>
            <a:ext cx="64008" cy="1508760"/>
          </a:xfrm>
          <a:prstGeom prst="rect">
            <a:avLst/>
          </a:prstGeom>
          <a:solidFill>
            <a:srgbClr val="BF4C4C"/>
          </a:solidFill>
          <a:ln>
            <a:solidFill>
              <a:srgbClr val="B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176272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60320"/>
            <a:ext cx="224028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Bloquante / majeure /
mineure + catégories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057400"/>
            <a:ext cx="64008" cy="150876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176272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60320"/>
            <a:ext cx="224028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Grooming → Sprint →
traitement →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057400"/>
            <a:ext cx="64008" cy="1508760"/>
          </a:xfrm>
          <a:prstGeom prst="rect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176272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Livraison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560320"/>
            <a:ext cx="224028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SNAPSHOT → RC →
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600" b="0">
                <a:solidFill>
                  <a:srgbClr val="2A313A"/>
                </a:solidFill>
                <a:latin typeface="Aptos"/>
              </a:rPr>
              <a:t>Button : Audit #1 (3 majeures, 2 mineures) → Audit #2 (1 majeure) → Audit #3 (aucune anomalie)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18263A"/>
                </a:solidFill>
                <a:latin typeface="Aptos"/>
              </a:rPr>
              <a:t>Objectif : suivre l'amélioration, pas seulement afficher un état courant.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09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Qualité : commencer par un profil transparent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La note globale est une piste future ; la V1 doit d'abord rendre les éléments de qualité explicites et compréhensibles.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1828800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17373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Couverture d'audit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14600"/>
            <a:ext cx="17373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composants audités /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2011680"/>
            <a:ext cx="64008" cy="1828800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2130552"/>
            <a:ext cx="17373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Fraîcheur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514600"/>
            <a:ext cx="17373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version du dernier audit applicable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75504" y="2011680"/>
            <a:ext cx="64008" cy="1828800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2130552"/>
            <a:ext cx="17373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Conformité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514600"/>
            <a:ext cx="17373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résultat objectif du dernier audit applicable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5" y="2011680"/>
            <a:ext cx="64008" cy="1828800"/>
          </a:xfrm>
          <a:prstGeom prst="rect">
            <a:avLst/>
          </a:prstGeom>
          <a:solidFill>
            <a:srgbClr val="BF4C4C"/>
          </a:solidFill>
          <a:ln>
            <a:solidFill>
              <a:srgbClr val="B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2130552"/>
            <a:ext cx="17373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Anomalies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2514600"/>
            <a:ext cx="17373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bloquantes / majeures / mineures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2011680"/>
            <a:ext cx="64008" cy="1828800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19" y="2130552"/>
            <a:ext cx="17373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Historique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514600"/>
            <a:ext cx="173736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évolution dans le temps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600" b="1">
                <a:solidFill>
                  <a:srgbClr val="18263A"/>
                </a:solidFill>
                <a:latin typeface="Aptos"/>
              </a:rPr>
              <a:t>Question ouverte : faut-il ensuite produire un score /100, A–E, Bronze/Silver/Gold ou autre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0">
                <a:solidFill>
                  <a:srgbClr val="687380"/>
                </a:solidFill>
                <a:latin typeface="Aptos"/>
              </a:rPr>
              <a:t>Si oui, il faudra définir les règles, les poids et la version du référentiel.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10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Releases : expliquer ce qui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Une release doit rapprocher les changements détectés dans le code, les issues GitHub et l'état qualité.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2514600" cy="502920"/>
          </a:xfrm>
          <a:prstGeom prst="round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Composants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10312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• créés
• modifiés
• supprimés
• breaking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514600" cy="502920"/>
          </a:xfrm>
          <a:prstGeom prst="round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Autres artefacts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210312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• hooks
• patterns
•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920240"/>
            <a:ext cx="2514600" cy="502920"/>
          </a:xfrm>
          <a:prstGeom prst="round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39112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Qualité / RGAA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97480"/>
            <a:ext cx="210312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• audités
• à auditer
• audits obsolètes
• anomalies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920240"/>
            <a:ext cx="2514600" cy="502920"/>
          </a:xfrm>
          <a:prstGeom prst="round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039112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Traçabilité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697480"/>
            <a:ext cx="210312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• issues
• PR
• merge
• version /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Résultat : « ce que contient cette version » + « quel est son état qualité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11 •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Data Quality : mesurer aussi la fiabilité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 système ne doit jamais masquer une incohérence : il doit la signaler, la conserver et indiquer son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896112"/>
          </a:xfrm>
          <a:prstGeom prst="rect">
            <a:avLst/>
          </a:prstGeom>
          <a:solidFill>
            <a:srgbClr val="BF4C4C"/>
          </a:solidFill>
          <a:ln>
            <a:solidFill>
              <a:srgbClr val="B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Type / labels incohérents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signalement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896112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947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Audit sans composant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331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erreur / exclusion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71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64008" cy="896112"/>
          </a:xfrm>
          <a:prstGeom prst="rect">
            <a:avLst/>
          </a:prstGeom>
          <a:solidFill>
            <a:srgbClr val="BF4C4C"/>
          </a:solidFill>
          <a:ln>
            <a:solidFill>
              <a:srgbClr val="B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090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Anomalie sans audit 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474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erreur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71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71800"/>
            <a:ext cx="64008" cy="896112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090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Done sans preuve de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74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14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114800"/>
            <a:ext cx="64008" cy="896112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233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Code ↔ catalogue incohérent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617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warning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11480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114800"/>
            <a:ext cx="64008" cy="896112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23367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Historique manquant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61772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inconnu + impact fiabilité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Un KPI doit pouvoir indiquer sa valeur et le niveau de confiance que l'on peut lui accorder.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Le dashboard comme projection, pas comme source de vérité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Les sources produisent les données ; le dashboard les rend lisibles.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2C63A8"/>
                </a:solidFill>
                <a:latin typeface="Aptos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47088"/>
            <a:ext cx="74066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GitHub • code • catalogue • documentation • futurs connecteurs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70048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2697AD"/>
                </a:solidFill>
                <a:latin typeface="Aptos"/>
              </a:rPr>
              <a:t>Collecte / normalisation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0048"/>
            <a:ext cx="74066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RAW → modèle normalisé → enrichissement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93008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DA8534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493008"/>
            <a:ext cx="74066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qualité • RGAA • changements • relations • KPI • DQ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6052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15968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6F57A1"/>
                </a:solidFill>
                <a:latin typeface="Aptos"/>
              </a:rPr>
              <a:t>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15968"/>
            <a:ext cx="74066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état quotidien • historique • comparaisons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38928"/>
            <a:ext cx="21488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300" b="1">
                <a:solidFill>
                  <a:srgbClr val="388E5D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138928"/>
            <a:ext cx="740664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GitHub Pages / Docusaurus en priorité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989320"/>
            <a:ext cx="101498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Si le statique devient trop limité, une application React dédiée pourra être envisagée.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13 • V2/V3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Le futur graphe : comprendre les relations et les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 graphe est une projection de relations explicites, filtrable par version, type de relation et profondeur.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388E5D"/>
                </a:solidFill>
                <a:latin typeface="Aptos"/>
              </a:rPr>
              <a:t>Application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2C63A8"/>
                </a:solidFill>
                <a:latin typeface="Aptos"/>
              </a:rPr>
              <a:t>Modal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82880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01168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2C63A8"/>
                </a:solidFill>
                <a:latin typeface="Aptos"/>
              </a:rPr>
              <a:t>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3444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41732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2697AD"/>
                </a:solidFill>
                <a:latin typeface="Aptos"/>
              </a:rPr>
              <a:t>Icon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51460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6F57A1"/>
                </a:solidFill>
                <a:latin typeface="Aptos"/>
              </a:rPr>
              <a:t>DatePicker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79476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3977640"/>
            <a:ext cx="155448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1">
                <a:solidFill>
                  <a:srgbClr val="388E5D"/>
                </a:solidFill>
                <a:latin typeface="Aptos"/>
              </a:rPr>
              <a:t>Application 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86000" y="2148840"/>
            <a:ext cx="685800" cy="137160"/>
          </a:xfrm>
          <a:prstGeom prst="line">
            <a:avLst/>
          </a:prstGeom>
          <a:ln w="20320">
            <a:solidFill>
              <a:srgbClr val="68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7720" y="2148840"/>
            <a:ext cx="777240" cy="0"/>
          </a:xfrm>
          <a:prstGeom prst="line">
            <a:avLst/>
          </a:prstGeom>
          <a:ln w="20320">
            <a:solidFill>
              <a:srgbClr val="68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40880" y="1554480"/>
            <a:ext cx="960120" cy="457200"/>
          </a:xfrm>
          <a:prstGeom prst="line">
            <a:avLst/>
          </a:prstGeom>
          <a:ln w="20320">
            <a:solidFill>
              <a:srgbClr val="68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" y="2331720"/>
            <a:ext cx="960120" cy="502920"/>
          </a:xfrm>
          <a:prstGeom prst="line">
            <a:avLst/>
          </a:prstGeom>
          <a:ln w="20320">
            <a:solidFill>
              <a:srgbClr val="68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0" y="2423160"/>
            <a:ext cx="2834640" cy="1691640"/>
          </a:xfrm>
          <a:prstGeom prst="line">
            <a:avLst/>
          </a:prstGeom>
          <a:ln w="20320">
            <a:solidFill>
              <a:srgbClr val="687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206240"/>
            <a:ext cx="5029200" cy="1645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• composition : Modal → Button
• remplacement : DatePicker → DateBox
• usage : Application → Component
• audit : Audit → Component
• livraison : Issue →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18288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18263A"/>
                </a:solidFill>
                <a:latin typeface="Aptos"/>
              </a:rPr>
              <a:t>Question cible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4663440" cy="8686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700" b="1">
                <a:solidFill>
                  <a:srgbClr val="6F57A1"/>
                </a:solidFill>
                <a:latin typeface="Aptos"/>
              </a:rPr>
              <a:t>« Si Button change ou si une prop devient obligatoire, qui est impacté ?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14 •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Ce que cela change pour les équipes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Le projet doit produire de la valeur sans transformer la squad en équipe de saisie administrative.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896112"/>
          </a:xfrm>
          <a:prstGeom prst="rect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Développeurs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8600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Plus de traçabilité automatique ; moins de reporting manuel.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64008" cy="896112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90195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Auditeurs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28600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Un audit devient un objet historique relié aux anomalies et aux versions.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26080"/>
            <a:ext cx="64008" cy="896112"/>
          </a:xfrm>
          <a:prstGeom prst="rect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04495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Designers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42900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À terme, lien plus solide entre Figma, composants et documentation.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26080"/>
            <a:ext cx="64008" cy="896112"/>
          </a:xfrm>
          <a:prstGeom prst="rect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04495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Squad / 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2900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Vision partagée de l'état, des changements et du reste à faire.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069080"/>
            <a:ext cx="507492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4069080"/>
            <a:ext cx="64008" cy="896112"/>
          </a:xfrm>
          <a:prstGeom prst="rect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4187952"/>
            <a:ext cx="4800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1">
                <a:solidFill>
                  <a:srgbClr val="18263A"/>
                </a:solidFill>
                <a:latin typeface="Aptos"/>
              </a:rPr>
              <a:t>Clients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4572000"/>
            <a:ext cx="4800600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2A313A"/>
                </a:solidFill>
                <a:latin typeface="Aptos"/>
              </a:rPr>
              <a:t>À terme, information plus lisible sur versions, qualité et impacts.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Question à poser : « Qu'est-ce qui vous ferait gagner du temps plutôt que vous en prendre ?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15 • GARDE-FOUS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Ce que nous ne voulons pas faire en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La vision est large ; la première réalisation doit rester maîtrisable.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55648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remplacer GitHub, Docusaurus ou Figma.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23160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analyser toutes les applications dès la première 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90672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imposer immédiatement l'analyse AST ou l'analyse des props.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39896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58183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produire un score opaque qui masque les données réelles.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07408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25696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demander manuellement des informations déjà déductibles du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000" b="1">
                <a:solidFill>
                  <a:srgbClr val="BF4C4C"/>
                </a:solidFill>
                <a:latin typeface="Aptos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93207"/>
            <a:ext cx="97840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500" b="0">
                <a:solidFill>
                  <a:srgbClr val="2A313A"/>
                </a:solidFill>
                <a:latin typeface="Aptos"/>
              </a:rPr>
              <a:t>Ne pas figer V2/V3 avant d'avoir validé les besoins.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18263A"/>
                </a:solidFill>
                <a:latin typeface="Aptos"/>
              </a:rPr>
              <a:t>Principe : automatiser au maximum, rendre visibles les incertitudes et garder une gouvernance humaine là où elle est nécessaire.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16 • 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Nous voulons challenger la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15–20 minutes. Cherchons les besoins, les risques et les manques plutôt que de résoudre les détails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VALEUR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214884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A313A"/>
                </a:solidFill>
                <a:latin typeface="Aptos"/>
              </a:rPr>
              <a:t>Qu'est-ce qui vous serait réellement utile au quotidien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05740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Ce qui mérite d'être priorisé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514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RISQUE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14884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A313A"/>
                </a:solidFill>
                <a:latin typeface="Aptos"/>
              </a:rPr>
              <a:t>Qu'est-ce qui paraît trop complexe, fragile ou coûteux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343400"/>
            <a:ext cx="205740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Ce qui doit être simplifié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514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MANQUE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4884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A313A"/>
                </a:solidFill>
                <a:latin typeface="Aptos"/>
              </a:rPr>
              <a:t>Qu'est-ce qui manque dans cette vision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205740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Ce que nous devons ajouter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514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22402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8263A"/>
                </a:solidFill>
                <a:latin typeface="Aptos"/>
              </a:rPr>
              <a:t>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743200"/>
            <a:ext cx="214884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400" b="1">
                <a:solidFill>
                  <a:srgbClr val="2A313A"/>
                </a:solidFill>
                <a:latin typeface="Aptos"/>
              </a:rPr>
              <a:t>Si vous ne gardiez que 3 capacités pour la V1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343400"/>
            <a:ext cx="205740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100" b="0">
                <a:solidFill>
                  <a:srgbClr val="687380"/>
                </a:solidFill>
                <a:latin typeface="Aptos"/>
              </a:rPr>
              <a:t>Ce qui doit vraiment sortir en premier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6F57A1"/>
                </a:solidFill>
                <a:latin typeface="Aptos"/>
              </a:rPr>
              <a:t>Règle : challenger la proposition, pas défendre la 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900" b="1">
                <a:solidFill>
                  <a:srgbClr val="2C63A8"/>
                </a:solidFill>
                <a:latin typeface="Aptos"/>
              </a:rPr>
              <a:t>17 •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2600" b="1">
                <a:solidFill>
                  <a:srgbClr val="18263A"/>
                </a:solidFill>
                <a:latin typeface="Aptos"/>
              </a:rPr>
              <a:t>Du feedback au modèle métier définitif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200" b="0">
                <a:solidFill>
                  <a:srgbClr val="687380"/>
                </a:solidFill>
                <a:latin typeface="Aptos"/>
              </a:rPr>
              <a:t>La présentation est une étape de cadrage collectif ; le modèle ne doit pas être figé avant ce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800" b="0">
                <a:solidFill>
                  <a:srgbClr val="687380"/>
                </a:solidFill>
                <a:latin typeface="Aptos"/>
              </a:rPr>
              <a:t>Vision proposée • V1 proposée • à challenger collectivement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/>
            <a:r>
              <a:rPr sz="900" b="1">
                <a:solidFill>
                  <a:srgbClr val="687380"/>
                </a:solidFill>
                <a:latin typeface="Aptos"/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011680"/>
            <a:ext cx="594360" cy="594360"/>
          </a:xfrm>
          <a:prstGeom prst="ellipse">
            <a:avLst/>
          </a:prstGeom>
          <a:solidFill>
            <a:srgbClr val="2C63A8"/>
          </a:solidFill>
          <a:ln>
            <a:solidFill>
              <a:srgbClr val="2C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627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88920"/>
            <a:ext cx="1234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8263A"/>
                </a:solidFill>
                <a:latin typeface="Aptos"/>
              </a:rPr>
              <a:t>Feedback Squad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5486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687380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2011680"/>
            <a:ext cx="594360" cy="594360"/>
          </a:xfrm>
          <a:prstGeom prst="ellipse">
            <a:avLst/>
          </a:prstGeom>
          <a:solidFill>
            <a:srgbClr val="2697AD"/>
          </a:solidFill>
          <a:ln>
            <a:solidFill>
              <a:srgbClr val="26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7627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88920"/>
            <a:ext cx="1234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8263A"/>
                </a:solidFill>
                <a:latin typeface="Aptos"/>
              </a:rPr>
              <a:t>Arbitrages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48840"/>
            <a:ext cx="5486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687380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166360" y="2011680"/>
            <a:ext cx="594360" cy="594360"/>
          </a:xfrm>
          <a:prstGeom prst="ellipse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17627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88920"/>
            <a:ext cx="1234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8263A"/>
                </a:solidFill>
                <a:latin typeface="Aptos"/>
              </a:rPr>
              <a:t>Modèle métier définitif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48840"/>
            <a:ext cx="5486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687380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2011680"/>
            <a:ext cx="594360" cy="594360"/>
          </a:xfrm>
          <a:prstGeom prst="ellipse">
            <a:avLst/>
          </a:prstGeom>
          <a:solidFill>
            <a:srgbClr val="6F57A1"/>
          </a:solidFill>
          <a:ln>
            <a:solidFill>
              <a:srgbClr val="6F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17627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88920"/>
            <a:ext cx="1234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8263A"/>
                </a:solidFill>
                <a:latin typeface="Aptos"/>
              </a:rPr>
              <a:t>Architecture 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48840"/>
            <a:ext cx="5486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2200" b="1">
                <a:solidFill>
                  <a:srgbClr val="687380"/>
                </a:solidFill>
                <a:latin typeface="Aptos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9738360" y="2011680"/>
            <a:ext cx="594360" cy="594360"/>
          </a:xfrm>
          <a:prstGeom prst="ellipse">
            <a:avLst/>
          </a:prstGeom>
          <a:solidFill>
            <a:srgbClr val="388E5D"/>
          </a:solidFill>
          <a:ln>
            <a:solidFill>
              <a:srgbClr val="388E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17627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88920"/>
            <a:ext cx="123444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8263A"/>
                </a:solidFill>
                <a:latin typeface="Aptos"/>
              </a:rPr>
              <a:t>POC /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10058400" cy="1371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/>
            <a:r>
              <a:rPr sz="1400" b="0">
                <a:solidFill>
                  <a:srgbClr val="2A313A"/>
                </a:solidFill>
                <a:latin typeface="Aptos"/>
              </a:rPr>
              <a:t>• La vision répond-elle à de vrais besoins ?
• Le périmètre V1 est-il réaliste ?
• Quelles données / règles doivent être prioritaires ?
• Quelles contraintes d'usage avons-nous oubliées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