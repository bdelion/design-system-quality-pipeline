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abin"/>
      <p:regular r:id="rId201314"/>
    </p:embeddedFont>
    <p:embeddedFont>
      <p:font typeface="Cabin Bold"/>
      <p:regular r:id="rId201315"/>
    </p:embeddedFont>
    <p:embeddedFont>
      <p:font typeface="Unbounded"/>
      <p:regular r:id="rId201316"/>
    </p:embeddedFont>
    <p:embeddedFont>
      <p:font typeface="Unbounded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4.png"/><Relationship Id="rId7" Type="http://schemas.openxmlformats.org/officeDocument/2006/relationships/image" Target="../media/image-6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403177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POC Audit &amp; Suivi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289002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Une preuve de concept pour transformer la surveillance opérationnelle en un système d'audit automatisé, fiable et actionnable.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8086" y="4151709"/>
            <a:ext cx="1728149" cy="303113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</p:sp>
      <p:sp>
        <p:nvSpPr>
          <p:cNvPr id="6" name="Text 3"/>
          <p:cNvSpPr/>
          <p:nvPr/>
        </p:nvSpPr>
        <p:spPr>
          <a:xfrm>
            <a:off x="817740" y="4211538"/>
            <a:ext cx="2098424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PROOF OF CONCEPT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525947" y="4151709"/>
            <a:ext cx="610081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45602" y="4211538"/>
            <a:ext cx="980356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2024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01663"/>
            <a:ext cx="6223638" cy="5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 Défi Actuel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269971" y="1469132"/>
            <a:ext cx="6223638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Les équipes opérationnelles font face à des volumes croissants de données, d'alertes et de logs — sans visibilité centralisée ni traçabilité fiable.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269971" y="2309813"/>
            <a:ext cx="3015182" cy="2332633"/>
          </a:xfrm>
          <a:prstGeom prst="roundRect">
            <a:avLst>
              <a:gd name="adj" fmla="val 1263"/>
            </a:avLst>
          </a:prstGeom>
          <a:solidFill>
            <a:srgbClr val="304755"/>
          </a:solidFill>
          <a:ln/>
        </p:spPr>
      </p:sp>
      <p:sp>
        <p:nvSpPr>
          <p:cNvPr id="6" name="Text 3"/>
          <p:cNvSpPr/>
          <p:nvPr/>
        </p:nvSpPr>
        <p:spPr>
          <a:xfrm>
            <a:off x="5466320" y="2506166"/>
            <a:ext cx="2622484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Surcharge d'alertes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66320" y="3199507"/>
            <a:ext cx="2622484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Des milliers de notifications non priorisées, générant fatigue et risques de passer à côté d'incidents critiques.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478427" y="2309813"/>
            <a:ext cx="3015182" cy="2332633"/>
          </a:xfrm>
          <a:prstGeom prst="roundRect">
            <a:avLst>
              <a:gd name="adj" fmla="val 1263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8674776" y="2506166"/>
            <a:ext cx="2622484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Traçabilité insuffisante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74776" y="3199507"/>
            <a:ext cx="2622484" cy="93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L'absence de journalisation structurée complique les audits et la conformité réglementaire.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269971" y="4835723"/>
            <a:ext cx="6223638" cy="1420614"/>
          </a:xfrm>
          <a:prstGeom prst="roundRect">
            <a:avLst>
              <a:gd name="adj" fmla="val 2073"/>
            </a:avLst>
          </a:prstGeom>
          <a:solidFill>
            <a:srgbClr val="304755"/>
          </a:solidFill>
          <a:ln/>
        </p:spPr>
      </p:sp>
      <p:sp>
        <p:nvSpPr>
          <p:cNvPr id="12" name="Text 9"/>
          <p:cNvSpPr/>
          <p:nvPr/>
        </p:nvSpPr>
        <p:spPr>
          <a:xfrm>
            <a:off x="5466320" y="5032077"/>
            <a:ext cx="5830940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Réactivité limitée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66320" y="5436691"/>
            <a:ext cx="583094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Les délais de détection et de résolution restent élevés faute d'outils d'analyse automatisée.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3442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Notre Réponse : Le POC Audit &amp; Suivi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353443"/>
            <a:ext cx="6881343" cy="3899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3515" y="2960588"/>
            <a:ext cx="3526345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Ce proof of concept vise à démontrer la faisabilité d'une plateforme unifiée d'audit et de suivi, capable de :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615" y="5542756"/>
            <a:ext cx="238417" cy="2384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14606" y="5537895"/>
            <a:ext cx="2976488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Collecter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214606" y="5847655"/>
            <a:ext cx="2976488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Agréger des données hétérogènes en temps réel depuis toutes les sources.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08873" y="5542756"/>
            <a:ext cx="238417" cy="2384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65863" y="5537895"/>
            <a:ext cx="2976488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Analyser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4865863" y="5847655"/>
            <a:ext cx="2976488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Détecter automatiquement les anomalies et les écarts de conformité.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0131" y="5542756"/>
            <a:ext cx="238417" cy="2384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17121" y="5537895"/>
            <a:ext cx="2976488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Agir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8517121" y="5847655"/>
            <a:ext cx="2976488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Générer des alertes contextuelles et des rapports d'audit exploitables.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3442"/>
            <a:ext cx="10795524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Architecture du Système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98086" y="977602"/>
            <a:ext cx="11405108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Une architecture modulaire conçue pour s'intégrer aux environnements existants avec un minimum de friction.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170682"/>
            <a:ext cx="10795524" cy="49406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05878" y="1953112"/>
            <a:ext cx="2255434" cy="280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Moteur &amp; Sorties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05878" y="2318800"/>
            <a:ext cx="263222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Règles, ML, alertes et tableaux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53323" y="3436760"/>
            <a:ext cx="2419948" cy="561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Couche d'ingestion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53323" y="4083223"/>
            <a:ext cx="241994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Streaming et normalisation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05878" y="4415576"/>
            <a:ext cx="2247474" cy="280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Cœur : Données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605878" y="4781264"/>
            <a:ext cx="263222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APIs, logs, bases de données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8086" y="6174680"/>
            <a:ext cx="11405108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Chaque couche est découplée, permettant des déploiements progressifs et une maintenance simplifiée.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51110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Fonctionnalités Clés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496741"/>
            <a:ext cx="1990675" cy="12303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3976390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Surveillance Temps Réel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4389338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Tableaux de bord dynamiques actualisés en continu, avec filtres par criticité et par périmètre.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704" y="2496741"/>
            <a:ext cx="1990675" cy="12303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9704" y="3976390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Audit Automatisé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379704" y="4389338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Règles métier configurables pour valider automatiquement la conformité et générer des preuves d'audit.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322" y="2496741"/>
            <a:ext cx="1990675" cy="12303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1322" y="3976390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Détection d'Anomalies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061322" y="4389338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Algorithmes de ML pour identifier les comportements atypiques avant qu'ils ne deviennent des incidents.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10493"/>
            <a:ext cx="6223638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Intégration &amp; Déploiement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69971" y="1892796"/>
            <a:ext cx="6833223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 POC est conçu pour s'intégrer aux outils existants sans rupture opérationnelle.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9971" y="2339479"/>
            <a:ext cx="6223638" cy="10180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42816" y="2536130"/>
            <a:ext cx="575414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Connecteurs Natifs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542816" y="2892227"/>
            <a:ext cx="5754147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Support des protocoles standards : REST API, Syslog, JDBC, Kafka.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971" y="3515717"/>
            <a:ext cx="6223638" cy="12867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42816" y="3712369"/>
            <a:ext cx="575414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Déploiement Conteneurisé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542816" y="4068465"/>
            <a:ext cx="5754147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Architecture Docker/Kubernetes pour une installation rapide sur infra on-premise ou cloud.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9971" y="4960640"/>
            <a:ext cx="6223638" cy="12867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42816" y="5157291"/>
            <a:ext cx="575414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Sécurité par Design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5542816" y="5513388"/>
            <a:ext cx="5754147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Chiffrement des données en transit et au repos, gestion fine des accès (RBAC).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Méthodologie du POC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3234333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Une approche structurée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23836" y="3430786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 POC suit un cycle rigoureux de 4 à 6 semaines, avec des jalons clairs et des critères de succès définis dès le cadrage.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3836" y="3606502"/>
            <a:ext cx="5276123" cy="378817"/>
          </a:xfrm>
          <a:prstGeom prst="roundRect">
            <a:avLst>
              <a:gd name="adj" fmla="val 3949"/>
            </a:avLst>
          </a:prstGeom>
          <a:solidFill>
            <a:srgbClr val="08786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549" y="3682802"/>
            <a:ext cx="124616" cy="997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47877" y="3676253"/>
            <a:ext cx="4852370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Chaque phase inclut une revue formelle avec les parties prenantes pour valider l'avancement et ajuster le cap si nécessaire.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7806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Résultats Attendus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763415"/>
            <a:ext cx="5273047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80%</a:t>
            </a:r>
            <a:endParaRPr lang="en-US" sz="5150" dirty="0"/>
          </a:p>
        </p:txBody>
      </p:sp>
      <p:sp>
        <p:nvSpPr>
          <p:cNvPr id="4" name="Text 2"/>
          <p:cNvSpPr/>
          <p:nvPr/>
        </p:nvSpPr>
        <p:spPr>
          <a:xfrm>
            <a:off x="698086" y="2670969"/>
            <a:ext cx="52730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Réduction des alertes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98086" y="3083917"/>
            <a:ext cx="52730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Grâce à la corrélation et à la priorisation automatique.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20463" y="1763415"/>
            <a:ext cx="527314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3x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6220463" y="2670969"/>
            <a:ext cx="527314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Vitesse de détection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20463" y="3083917"/>
            <a:ext cx="527314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Temps moyen de détection d'anomalie réduit par rapport aux processus manuels.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98086" y="4220964"/>
            <a:ext cx="5273047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100%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698086" y="5128518"/>
            <a:ext cx="52730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Traçabilité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8086" y="5541466"/>
            <a:ext cx="527304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Journalisation complète de tous les événements pour les audits de conformité.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220463" y="4220964"/>
            <a:ext cx="527314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 sem.</a:t>
            </a:r>
            <a:endParaRPr lang="en-US" sz="5150" dirty="0"/>
          </a:p>
        </p:txBody>
      </p:sp>
      <p:sp>
        <p:nvSpPr>
          <p:cNvPr id="13" name="Text 11"/>
          <p:cNvSpPr/>
          <p:nvPr/>
        </p:nvSpPr>
        <p:spPr>
          <a:xfrm>
            <a:off x="6220463" y="5128518"/>
            <a:ext cx="527314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Délai de déploiement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20463" y="5541466"/>
            <a:ext cx="527314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Intégration des premières sources de données dès la deuxième semaine.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4498"/>
            <a:ext cx="10795524" cy="5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Prochaines Étapes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6083148" y="1527175"/>
            <a:ext cx="25399" cy="4746327"/>
          </a:xfrm>
          <a:prstGeom prst="roundRect">
            <a:avLst>
              <a:gd name="adj" fmla="val 50001"/>
            </a:avLst>
          </a:prstGeom>
          <a:solidFill>
            <a:srgbClr val="49606E"/>
          </a:solidFill>
          <a:ln/>
        </p:spPr>
      </p:sp>
      <p:sp>
        <p:nvSpPr>
          <p:cNvPr id="4" name="Shape 2"/>
          <p:cNvSpPr/>
          <p:nvPr/>
        </p:nvSpPr>
        <p:spPr>
          <a:xfrm>
            <a:off x="5324143" y="1731863"/>
            <a:ext cx="579721" cy="2540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5" name="Shape 3"/>
          <p:cNvSpPr/>
          <p:nvPr/>
        </p:nvSpPr>
        <p:spPr>
          <a:xfrm>
            <a:off x="5878465" y="1527175"/>
            <a:ext cx="434766" cy="434777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6" name="Text 4"/>
          <p:cNvSpPr/>
          <p:nvPr/>
        </p:nvSpPr>
        <p:spPr>
          <a:xfrm>
            <a:off x="5959475" y="1574056"/>
            <a:ext cx="272746" cy="3410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98086" y="1593552"/>
            <a:ext cx="4431594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Semaine 1–2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98086" y="1989931"/>
            <a:ext cx="4431594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1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Cadrage du périmètre, identification des sources de données prioritaires et définition des KPIs de succès.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7831" y="2879130"/>
            <a:ext cx="579721" cy="2540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10" name="Shape 8"/>
          <p:cNvSpPr/>
          <p:nvPr/>
        </p:nvSpPr>
        <p:spPr>
          <a:xfrm>
            <a:off x="5878465" y="2674441"/>
            <a:ext cx="434766" cy="434777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1" name="Text 9"/>
          <p:cNvSpPr/>
          <p:nvPr/>
        </p:nvSpPr>
        <p:spPr>
          <a:xfrm>
            <a:off x="5959475" y="2721322"/>
            <a:ext cx="272746" cy="3410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062016" y="2740819"/>
            <a:ext cx="4431594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Semaine 3–4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062016" y="3137198"/>
            <a:ext cx="4431594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Déploiement de l'infrastructure, intégration des connecteurs et configuration des premières règles d'audit.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324143" y="3872409"/>
            <a:ext cx="579721" cy="2540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15" name="Shape 13"/>
          <p:cNvSpPr/>
          <p:nvPr/>
        </p:nvSpPr>
        <p:spPr>
          <a:xfrm>
            <a:off x="5878465" y="3667720"/>
            <a:ext cx="434766" cy="434777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6" name="Text 14"/>
          <p:cNvSpPr/>
          <p:nvPr/>
        </p:nvSpPr>
        <p:spPr>
          <a:xfrm>
            <a:off x="5959475" y="3714601"/>
            <a:ext cx="272746" cy="3410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98086" y="3734098"/>
            <a:ext cx="4431594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Semaine 5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98086" y="4130477"/>
            <a:ext cx="4431594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1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Tests fonctionnels, validation des alertes et ajustement des seuils de détection avec les équipes métier.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87831" y="4865787"/>
            <a:ext cx="579721" cy="2540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20" name="Shape 18"/>
          <p:cNvSpPr/>
          <p:nvPr/>
        </p:nvSpPr>
        <p:spPr>
          <a:xfrm>
            <a:off x="5878465" y="4661098"/>
            <a:ext cx="434766" cy="434777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21" name="Text 19"/>
          <p:cNvSpPr/>
          <p:nvPr/>
        </p:nvSpPr>
        <p:spPr>
          <a:xfrm>
            <a:off x="5959475" y="4707979"/>
            <a:ext cx="272746" cy="3410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062016" y="4727476"/>
            <a:ext cx="4431594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Semaine 6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062016" y="5123855"/>
            <a:ext cx="4431594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Revue finale, présentation des résultats aux parties prenantes et recommandations pour un déploiement en production.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944959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Passons à l'Action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1830784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Ce POC représente une opportunité concrète de moderniser votre dispositif d'audit et de suivi, avec un investissement maîtrisé et des résultats mesurables dès les premières semaines.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269971" y="3012678"/>
            <a:ext cx="6223638" cy="2900363"/>
          </a:xfrm>
          <a:prstGeom prst="roundRect">
            <a:avLst>
              <a:gd name="adj" fmla="val 1032"/>
            </a:avLst>
          </a:prstGeom>
          <a:solidFill>
            <a:srgbClr val="304755"/>
          </a:solidFill>
          <a:ln/>
        </p:spPr>
      </p:sp>
      <p:sp>
        <p:nvSpPr>
          <p:cNvPr id="6" name="Shape 3"/>
          <p:cNvSpPr/>
          <p:nvPr/>
        </p:nvSpPr>
        <p:spPr>
          <a:xfrm>
            <a:off x="5269971" y="3012678"/>
            <a:ext cx="3111819" cy="1769368"/>
          </a:xfrm>
          <a:custGeom>
            <a:avLst/>
            <a:gdLst/>
            <a:ahLst/>
            <a:cxnLst/>
            <a:rect l="l" t="t" r="r" b="b"/>
            <a:pathLst>
              <a:path w="3111819" h="1769368">
                <a:moveTo>
                  <a:pt x="24935" y="0"/>
                </a:moveTo>
                <a:lnTo>
                  <a:pt x="3111819" y="0"/>
                </a:lnTo>
                <a:lnTo>
                  <a:pt x="3111819" y="1769368"/>
                </a:lnTo>
                <a:lnTo>
                  <a:pt x="0" y="1769368"/>
                </a:lnTo>
                <a:lnTo>
                  <a:pt x="0" y="24935"/>
                </a:lnTo>
                <a:arcTo hR="24935" wR="24935" stAng="10800000" swAng="5400000"/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7" name="Text 4"/>
          <p:cNvSpPr/>
          <p:nvPr/>
        </p:nvSpPr>
        <p:spPr>
          <a:xfrm>
            <a:off x="5469396" y="3212108"/>
            <a:ext cx="271297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Valider le périmètre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69396" y="3625056"/>
            <a:ext cx="271297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Confirmer les sources de données et les cas d'usage prioritaires.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381790" y="3012678"/>
            <a:ext cx="3111819" cy="1769368"/>
          </a:xfrm>
          <a:custGeom>
            <a:avLst/>
            <a:gdLst/>
            <a:ahLst/>
            <a:cxnLst/>
            <a:rect l="l" t="t" r="r" b="b"/>
            <a:pathLst>
              <a:path w="3111819" h="1769368">
                <a:moveTo>
                  <a:pt x="0" y="0"/>
                </a:moveTo>
                <a:lnTo>
                  <a:pt x="3086884" y="0"/>
                </a:lnTo>
                <a:arcTo hR="24935" wR="24935" stAng="16200000" swAng="5400000"/>
                <a:lnTo>
                  <a:pt x="3111819" y="1769368"/>
                </a:lnTo>
                <a:lnTo>
                  <a:pt x="0" y="1769368"/>
                </a:lnTo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3012678"/>
            <a:ext cx="25399" cy="1769368"/>
          </a:xfrm>
          <a:prstGeom prst="roundRect">
            <a:avLst>
              <a:gd name="adj" fmla="val 50001"/>
            </a:avLst>
          </a:prstGeom>
          <a:solidFill>
            <a:srgbClr val="49606E"/>
          </a:solidFill>
          <a:ln/>
        </p:spPr>
      </p:sp>
      <p:sp>
        <p:nvSpPr>
          <p:cNvPr id="11" name="Text 8"/>
          <p:cNvSpPr/>
          <p:nvPr/>
        </p:nvSpPr>
        <p:spPr>
          <a:xfrm>
            <a:off x="8581215" y="3212108"/>
            <a:ext cx="271297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Lancer le POC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581215" y="3625056"/>
            <a:ext cx="271297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Démarrer l'intégration dans un délai de 2 semaines.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5269971" y="4782046"/>
            <a:ext cx="6223638" cy="1130995"/>
          </a:xfrm>
          <a:custGeom>
            <a:avLst/>
            <a:gdLst/>
            <a:ahLst/>
            <a:cxnLst/>
            <a:rect l="l" t="t" r="r" b="b"/>
            <a:pathLst>
              <a:path w="6223638" h="1130995">
                <a:moveTo>
                  <a:pt x="0" y="0"/>
                </a:moveTo>
                <a:lnTo>
                  <a:pt x="6223638" y="0"/>
                </a:lnTo>
                <a:lnTo>
                  <a:pt x="6223638" y="1106059"/>
                </a:lnTo>
                <a:arcTo hR="24935" wR="24935" stAng="0" swAng="5400000"/>
                <a:lnTo>
                  <a:pt x="24935" y="1130995"/>
                </a:lnTo>
                <a:arcTo hR="24935" wR="24935" stAng="5400000" swAng="5400000"/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14" name="Shape 11"/>
          <p:cNvSpPr/>
          <p:nvPr/>
        </p:nvSpPr>
        <p:spPr>
          <a:xfrm>
            <a:off x="5269971" y="4782046"/>
            <a:ext cx="6223638" cy="2540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15" name="Text 12"/>
          <p:cNvSpPr/>
          <p:nvPr/>
        </p:nvSpPr>
        <p:spPr>
          <a:xfrm>
            <a:off x="5469396" y="4981476"/>
            <a:ext cx="58247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Évaluer &amp; Décider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69396" y="5394424"/>
            <a:ext cx="58247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Revue des résultats et décision de passage en production.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2026-09-27T08:13:23Z</dcterms:created>
  <dcterms:modified xsi:type="dcterms:W3CDTF">2026-09-27T08:13:23Z</dcterms:modified>
</cp:coreProperties>
</file>