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Inter" charset="1" panose="020B0502030000000004"/>
      <p:regular r:id="rId13"/>
    </p:embeddedFont>
    <p:embeddedFont>
      <p:font typeface="Inter Bold" charset="1" panose="020B0802030000000004"/>
      <p:regular r:id="rId14"/>
    </p:embeddedFont>
    <p:embeddedFont>
      <p:font typeface="Inter Medium" charset="1" panose="02000503000000020004"/>
      <p:regular r:id="rId15"/>
    </p:embeddedFont>
    <p:embeddedFont>
      <p:font typeface="Inter Semi-Bold" charset="1" panose="0200050300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93952" y="0"/>
            <a:ext cx="10894048" cy="9652945"/>
          </a:xfrm>
          <a:custGeom>
            <a:avLst/>
            <a:gdLst/>
            <a:ahLst/>
            <a:cxnLst/>
            <a:rect r="r" b="b" t="t" l="l"/>
            <a:pathLst>
              <a:path h="9652945" w="10894048">
                <a:moveTo>
                  <a:pt x="0" y="0"/>
                </a:moveTo>
                <a:lnTo>
                  <a:pt x="10894048" y="0"/>
                </a:lnTo>
                <a:lnTo>
                  <a:pt x="10894048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41248" y="6849240"/>
            <a:ext cx="6711696" cy="131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146" spc="-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Comprendre comment notre Design System</a:t>
            </a:r>
          </a:p>
          <a:p>
            <a:pPr algn="l">
              <a:lnSpc>
                <a:spcPts val="3605"/>
              </a:lnSpc>
            </a:pPr>
            <a:r>
              <a:rPr lang="en-US" sz="2146" spc="-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s'appuie sur un </a:t>
            </a:r>
            <a:r>
              <a:rPr lang="en-US" sz="2146" spc="-64">
                <a:solidFill>
                  <a:srgbClr val="E1491C"/>
                </a:solidFill>
                <a:latin typeface="Inter"/>
                <a:ea typeface="Inter"/>
                <a:cs typeface="Inter"/>
                <a:sym typeface="Inter"/>
              </a:rPr>
              <a:t>Quality Pipeline</a:t>
            </a:r>
            <a:r>
              <a:rPr lang="en-US" sz="2146" spc="-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robuste</a:t>
            </a:r>
          </a:p>
          <a:p>
            <a:pPr algn="l">
              <a:lnSpc>
                <a:spcPts val="3605"/>
              </a:lnSpc>
            </a:pPr>
            <a:r>
              <a:rPr lang="en-US" sz="2146" spc="-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pour garantir la cohérence et la qualité à chaque étape.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6384" y="2196549"/>
            <a:ext cx="8412480" cy="350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3"/>
              </a:lnSpc>
            </a:pPr>
            <a:r>
              <a:rPr lang="en-US" sz="7235" spc="-36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Bdelion</a:t>
            </a:r>
          </a:p>
          <a:p>
            <a:pPr algn="l">
              <a:lnSpc>
                <a:spcPts val="6873"/>
              </a:lnSpc>
            </a:pPr>
            <a:r>
              <a:rPr lang="en-US" sz="7235" spc="-36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Design System</a:t>
            </a:r>
          </a:p>
          <a:p>
            <a:pPr algn="l">
              <a:lnSpc>
                <a:spcPts val="6873"/>
              </a:lnSpc>
            </a:pPr>
            <a:r>
              <a:rPr lang="en-US" sz="7235" spc="-36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&amp; </a:t>
            </a:r>
            <a:r>
              <a:rPr lang="en-US" sz="7235" spc="-361" b="true">
                <a:solidFill>
                  <a:srgbClr val="E1491C"/>
                </a:solidFill>
                <a:latin typeface="Inter Bold"/>
                <a:ea typeface="Inter Bold"/>
                <a:cs typeface="Inter Bold"/>
                <a:sym typeface="Inter Bold"/>
              </a:rPr>
              <a:t>Quality Pipeline :</a:t>
            </a:r>
          </a:p>
          <a:p>
            <a:pPr algn="l">
              <a:lnSpc>
                <a:spcPts val="6873"/>
              </a:lnSpc>
            </a:pPr>
            <a:r>
              <a:rPr lang="en-US" sz="7235" spc="-36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Explication et Enjeux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758134" cy="10287000"/>
          </a:xfrm>
          <a:custGeom>
            <a:avLst/>
            <a:gdLst/>
            <a:ahLst/>
            <a:cxnLst/>
            <a:rect r="r" b="b" t="t" l="l"/>
            <a:pathLst>
              <a:path h="10287000" w="11758134">
                <a:moveTo>
                  <a:pt x="0" y="0"/>
                </a:moveTo>
                <a:lnTo>
                  <a:pt x="11758134" y="0"/>
                </a:lnTo>
                <a:lnTo>
                  <a:pt x="117581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4672" y="1191160"/>
            <a:ext cx="9308592" cy="2164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47"/>
              </a:lnSpc>
            </a:pPr>
            <a:r>
              <a:rPr lang="en-US" sz="7123" spc="-21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Introduction au Design System et à la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4672" y="3384764"/>
            <a:ext cx="6583680" cy="1069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4"/>
              </a:lnSpc>
            </a:pPr>
            <a:r>
              <a:rPr lang="en-US" sz="7012" spc="-210" b="true">
                <a:solidFill>
                  <a:srgbClr val="FF6B2C"/>
                </a:solidFill>
                <a:latin typeface="Inter Bold"/>
                <a:ea typeface="Inter Bold"/>
                <a:cs typeface="Inter Bold"/>
                <a:sym typeface="Inter Bold"/>
              </a:rPr>
              <a:t>Quality Pipeline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4672" y="5151980"/>
            <a:ext cx="8924544" cy="398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7"/>
              </a:lnSpc>
            </a:pPr>
            <a:r>
              <a:rPr lang="en-US" sz="2248" spc="-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 </a:t>
            </a:r>
            <a:r>
              <a:rPr lang="en-US" sz="2248" spc="-67" b="true">
                <a:solidFill>
                  <a:srgbClr val="FF6B2C"/>
                </a:solidFill>
                <a:latin typeface="Inter Bold"/>
                <a:ea typeface="Inter Bold"/>
                <a:cs typeface="Inter Bold"/>
                <a:sym typeface="Inter Bold"/>
              </a:rPr>
              <a:t>design system</a:t>
            </a:r>
            <a:r>
              <a:rPr lang="en-US" sz="2248" spc="-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réunit composants, règles </a:t>
            </a:r>
          </a:p>
          <a:p>
            <a:pPr algn="l">
              <a:lnSpc>
                <a:spcPts val="4047"/>
              </a:lnSpc>
            </a:pPr>
            <a:r>
              <a:rPr lang="en-US" sz="2248" spc="-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et bonnes pratiques pour créer des expériences UI/UX cohérentes.</a:t>
            </a:r>
          </a:p>
          <a:p>
            <a:pPr algn="l">
              <a:lnSpc>
                <a:spcPts val="4047"/>
              </a:lnSpc>
            </a:pPr>
          </a:p>
          <a:p>
            <a:pPr algn="l">
              <a:lnSpc>
                <a:spcPts val="4047"/>
              </a:lnSpc>
            </a:pPr>
            <a:r>
              <a:rPr lang="en-US" sz="2248" spc="-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Dans un système complexe, la </a:t>
            </a:r>
            <a:r>
              <a:rPr lang="en-US" sz="2248" spc="-67" b="true">
                <a:solidFill>
                  <a:srgbClr val="FF6B2C"/>
                </a:solidFill>
                <a:latin typeface="Inter Bold"/>
                <a:ea typeface="Inter Bold"/>
                <a:cs typeface="Inter Bold"/>
                <a:sym typeface="Inter Bold"/>
              </a:rPr>
              <a:t>qualité</a:t>
            </a:r>
            <a:r>
              <a:rPr lang="en-US" sz="2248" spc="-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n'est pas automatique :</a:t>
            </a:r>
          </a:p>
          <a:p>
            <a:pPr algn="l">
              <a:lnSpc>
                <a:spcPts val="4047"/>
              </a:lnSpc>
            </a:pPr>
            <a:r>
              <a:rPr lang="en-US" sz="2248" spc="-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elle se construit et se maintient.</a:t>
            </a:r>
          </a:p>
          <a:p>
            <a:pPr algn="l">
              <a:lnSpc>
                <a:spcPts val="4047"/>
              </a:lnSpc>
            </a:pPr>
          </a:p>
          <a:p>
            <a:pPr algn="l">
              <a:lnSpc>
                <a:spcPts val="4047"/>
              </a:lnSpc>
            </a:pPr>
            <a:r>
              <a:rPr lang="en-US" sz="2248" spc="-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Objectif : comprendre comment la </a:t>
            </a:r>
            <a:r>
              <a:rPr lang="en-US" sz="2248" spc="-67" b="true">
                <a:solidFill>
                  <a:srgbClr val="FF6B2C"/>
                </a:solidFill>
                <a:latin typeface="Inter Bold"/>
                <a:ea typeface="Inter Bold"/>
                <a:cs typeface="Inter Bold"/>
                <a:sym typeface="Inter Bold"/>
              </a:rPr>
              <a:t>quality pipeline</a:t>
            </a:r>
            <a:r>
              <a:rPr lang="en-US" sz="2248" spc="-6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permet de garantir cette qualité à chaque étape.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6842" y="634055"/>
            <a:ext cx="8061158" cy="8155262"/>
          </a:xfrm>
          <a:custGeom>
            <a:avLst/>
            <a:gdLst/>
            <a:ahLst/>
            <a:cxnLst/>
            <a:rect r="r" b="b" t="t" l="l"/>
            <a:pathLst>
              <a:path h="8155262" w="8061158">
                <a:moveTo>
                  <a:pt x="0" y="0"/>
                </a:moveTo>
                <a:lnTo>
                  <a:pt x="8061158" y="0"/>
                </a:lnTo>
                <a:lnTo>
                  <a:pt x="8061158" y="8155263"/>
                </a:lnTo>
                <a:lnTo>
                  <a:pt x="0" y="8155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8096" y="1742371"/>
            <a:ext cx="8211312" cy="2266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10"/>
              </a:lnSpc>
            </a:pPr>
            <a:r>
              <a:rPr lang="en-US" sz="8391" spc="-2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Qu’est-ce qu’un </a:t>
            </a:r>
            <a:r>
              <a:rPr lang="en-US" sz="8391" spc="-251" b="true">
                <a:solidFill>
                  <a:srgbClr val="F15A16"/>
                </a:solidFill>
                <a:latin typeface="Inter Bold"/>
                <a:ea typeface="Inter Bold"/>
                <a:cs typeface="Inter Bold"/>
                <a:sym typeface="Inter Bold"/>
              </a:rPr>
              <a:t>Design System 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4672" y="4765776"/>
            <a:ext cx="8229600" cy="373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sz="2360" spc="-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 socle central de </a:t>
            </a:r>
            <a:r>
              <a:rPr lang="en-US" sz="2360" spc="-70" b="true">
                <a:solidFill>
                  <a:srgbClr val="F15A16"/>
                </a:solidFill>
                <a:latin typeface="Inter Bold"/>
                <a:ea typeface="Inter Bold"/>
                <a:cs typeface="Inter Bold"/>
                <a:sym typeface="Inter Bold"/>
              </a:rPr>
              <a:t>composants UI</a:t>
            </a:r>
            <a:r>
              <a:rPr lang="en-US" sz="2360" spc="-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réutilisables.</a:t>
            </a:r>
          </a:p>
          <a:p>
            <a:pPr algn="l">
              <a:lnSpc>
                <a:spcPts val="3776"/>
              </a:lnSpc>
            </a:pPr>
          </a:p>
          <a:p>
            <a:pPr algn="l">
              <a:lnSpc>
                <a:spcPts val="3776"/>
              </a:lnSpc>
            </a:pPr>
            <a:r>
              <a:rPr lang="en-US" sz="2360" spc="-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Une standardisation pour garantir </a:t>
            </a:r>
            <a:r>
              <a:rPr lang="en-US" sz="2360" spc="-70" b="true">
                <a:solidFill>
                  <a:srgbClr val="F15A16"/>
                </a:solidFill>
                <a:latin typeface="Inter Bold"/>
                <a:ea typeface="Inter Bold"/>
                <a:cs typeface="Inter Bold"/>
                <a:sym typeface="Inter Bold"/>
              </a:rPr>
              <a:t>cohérence</a:t>
            </a:r>
            <a:r>
              <a:rPr lang="en-US" sz="2360" spc="-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et </a:t>
            </a:r>
            <a:r>
              <a:rPr lang="en-US" sz="2360" spc="-70" b="true">
                <a:solidFill>
                  <a:srgbClr val="F15A16"/>
                </a:solidFill>
                <a:latin typeface="Inter Bold"/>
                <a:ea typeface="Inter Bold"/>
                <a:cs typeface="Inter Bold"/>
                <a:sym typeface="Inter Bold"/>
              </a:rPr>
              <a:t>qualité</a:t>
            </a:r>
            <a:r>
              <a:rPr lang="en-US" sz="2360" spc="-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3776"/>
              </a:lnSpc>
            </a:pPr>
          </a:p>
          <a:p>
            <a:pPr algn="l">
              <a:lnSpc>
                <a:spcPts val="3776"/>
              </a:lnSpc>
            </a:pPr>
            <a:r>
              <a:rPr lang="en-US" sz="2360" spc="-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 cadre commun qui </a:t>
            </a:r>
            <a:r>
              <a:rPr lang="en-US" sz="2360" spc="-70" b="true">
                <a:solidFill>
                  <a:srgbClr val="F15A16"/>
                </a:solidFill>
                <a:latin typeface="Inter Bold"/>
                <a:ea typeface="Inter Bold"/>
                <a:cs typeface="Inter Bold"/>
                <a:sym typeface="Inter Bold"/>
              </a:rPr>
              <a:t>aligne design et développement</a:t>
            </a:r>
            <a:r>
              <a:rPr lang="en-US" sz="2360" spc="-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et fluidifie la collaboration.</a:t>
            </a:r>
          </a:p>
          <a:p>
            <a:pPr algn="l">
              <a:lnSpc>
                <a:spcPts val="3776"/>
              </a:lnSpc>
            </a:pPr>
          </a:p>
          <a:p>
            <a:pPr algn="l">
              <a:lnSpc>
                <a:spcPts val="3776"/>
              </a:lnSpc>
            </a:pPr>
            <a:r>
              <a:rPr lang="en-US" sz="2360" spc="-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Moins d’erreurs, des </a:t>
            </a:r>
            <a:r>
              <a:rPr lang="en-US" sz="2360" spc="-70" b="true">
                <a:solidFill>
                  <a:srgbClr val="F15A16"/>
                </a:solidFill>
                <a:latin typeface="Inter Bold"/>
                <a:ea typeface="Inter Bold"/>
                <a:cs typeface="Inter Bold"/>
                <a:sym typeface="Inter Bold"/>
              </a:rPr>
              <a:t>cycles plus rapides</a:t>
            </a:r>
            <a:r>
              <a:rPr lang="en-US" sz="2360" spc="-7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plus d’impact.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6384" y="1181034"/>
            <a:ext cx="4407408" cy="108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2"/>
              </a:lnSpc>
            </a:pPr>
            <a:r>
              <a:rPr lang="en-US" sz="8152" spc="-57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La Quality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6384" y="2353752"/>
            <a:ext cx="7991856" cy="108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2"/>
              </a:lnSpc>
            </a:pPr>
            <a:r>
              <a:rPr lang="en-US" sz="8152" spc="-570" b="true">
                <a:solidFill>
                  <a:srgbClr val="E85A1C"/>
                </a:solidFill>
                <a:latin typeface="Inter Bold"/>
                <a:ea typeface="Inter Bold"/>
                <a:cs typeface="Inter Bold"/>
                <a:sym typeface="Inter Bold"/>
              </a:rPr>
              <a:t>Pipeline expliquée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050220" y="4285339"/>
            <a:ext cx="448450" cy="218640"/>
          </a:xfrm>
          <a:custGeom>
            <a:avLst/>
            <a:gdLst/>
            <a:ahLst/>
            <a:cxnLst/>
            <a:rect r="r" b="b" t="t" l="l"/>
            <a:pathLst>
              <a:path h="218640" w="448450">
                <a:moveTo>
                  <a:pt x="0" y="0"/>
                </a:moveTo>
                <a:lnTo>
                  <a:pt x="448450" y="0"/>
                </a:lnTo>
                <a:lnTo>
                  <a:pt x="44845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17536" y="4563084"/>
            <a:ext cx="1207008" cy="58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b="true" sz="1819" spc="-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Intégration</a:t>
            </a:r>
          </a:p>
          <a:p>
            <a:pPr algn="ctr">
              <a:lnSpc>
                <a:spcPts val="2365"/>
              </a:lnSpc>
            </a:pPr>
            <a:r>
              <a:rPr lang="en-US" b="true" sz="1819" spc="-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du code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268976" y="5138034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08086" y="4285339"/>
            <a:ext cx="448450" cy="218640"/>
          </a:xfrm>
          <a:custGeom>
            <a:avLst/>
            <a:gdLst/>
            <a:ahLst/>
            <a:cxnLst/>
            <a:rect r="r" b="b" t="t" l="l"/>
            <a:pathLst>
              <a:path h="218640" w="448450">
                <a:moveTo>
                  <a:pt x="0" y="0"/>
                </a:moveTo>
                <a:lnTo>
                  <a:pt x="448450" y="0"/>
                </a:lnTo>
                <a:lnTo>
                  <a:pt x="44845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509760" y="4563084"/>
            <a:ext cx="1353312" cy="58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b="true" sz="1819" spc="-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Tests</a:t>
            </a:r>
          </a:p>
          <a:p>
            <a:pPr algn="ctr">
              <a:lnSpc>
                <a:spcPts val="2365"/>
              </a:lnSpc>
            </a:pPr>
            <a:r>
              <a:rPr lang="en-US" b="true" sz="1819" spc="-5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fonctionnels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008086" y="5138034"/>
            <a:ext cx="448450" cy="1300906"/>
          </a:xfrm>
          <a:custGeom>
            <a:avLst/>
            <a:gdLst/>
            <a:ahLst/>
            <a:cxnLst/>
            <a:rect r="r" b="b" t="t" l="l"/>
            <a:pathLst>
              <a:path h="1300906" w="448450">
                <a:moveTo>
                  <a:pt x="0" y="0"/>
                </a:moveTo>
                <a:lnTo>
                  <a:pt x="448450" y="0"/>
                </a:lnTo>
                <a:lnTo>
                  <a:pt x="448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65952" y="4285339"/>
            <a:ext cx="229694" cy="218640"/>
          </a:xfrm>
          <a:custGeom>
            <a:avLst/>
            <a:gdLst/>
            <a:ahLst/>
            <a:cxnLst/>
            <a:rect r="r" b="b" t="t" l="l"/>
            <a:pathLst>
              <a:path h="218640" w="229694">
                <a:moveTo>
                  <a:pt x="0" y="0"/>
                </a:moveTo>
                <a:lnTo>
                  <a:pt x="229694" y="0"/>
                </a:lnTo>
                <a:lnTo>
                  <a:pt x="22969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84864" y="4573777"/>
            <a:ext cx="1353312" cy="564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b="true" sz="1781" spc="-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Vérifications</a:t>
            </a:r>
          </a:p>
          <a:p>
            <a:pPr algn="ctr">
              <a:lnSpc>
                <a:spcPts val="2316"/>
              </a:lnSpc>
            </a:pPr>
            <a:r>
              <a:rPr lang="en-US" b="true" sz="1781" spc="-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visuelles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965952" y="5138034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923818" y="4285339"/>
            <a:ext cx="448450" cy="218640"/>
          </a:xfrm>
          <a:custGeom>
            <a:avLst/>
            <a:gdLst/>
            <a:ahLst/>
            <a:cxnLst/>
            <a:rect r="r" b="b" t="t" l="l"/>
            <a:pathLst>
              <a:path h="218640" w="448450">
                <a:moveTo>
                  <a:pt x="0" y="0"/>
                </a:moveTo>
                <a:lnTo>
                  <a:pt x="448450" y="0"/>
                </a:lnTo>
                <a:lnTo>
                  <a:pt x="44845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441680" y="4573538"/>
            <a:ext cx="1353312" cy="565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7"/>
              </a:lnSpc>
            </a:pPr>
            <a:r>
              <a:rPr lang="en-US" b="true" sz="1744" spc="-5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Analyse de performance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923818" y="5138034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892622" y="4285339"/>
            <a:ext cx="437512" cy="218640"/>
          </a:xfrm>
          <a:custGeom>
            <a:avLst/>
            <a:gdLst/>
            <a:ahLst/>
            <a:cxnLst/>
            <a:rect r="r" b="b" t="t" l="l"/>
            <a:pathLst>
              <a:path h="218640" w="437512">
                <a:moveTo>
                  <a:pt x="0" y="0"/>
                </a:moveTo>
                <a:lnTo>
                  <a:pt x="437512" y="0"/>
                </a:lnTo>
                <a:lnTo>
                  <a:pt x="43751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5416784" y="4573777"/>
            <a:ext cx="1572768" cy="564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b="true" sz="1781" spc="-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Validation</a:t>
            </a:r>
          </a:p>
          <a:p>
            <a:pPr algn="ctr">
              <a:lnSpc>
                <a:spcPts val="2316"/>
              </a:lnSpc>
            </a:pPr>
            <a:r>
              <a:rPr lang="en-US" b="true" sz="1781" spc="-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et déploiement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6100440" y="5138034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175196" y="5990729"/>
            <a:ext cx="10029962" cy="2590881"/>
          </a:xfrm>
          <a:custGeom>
            <a:avLst/>
            <a:gdLst/>
            <a:ahLst/>
            <a:cxnLst/>
            <a:rect r="r" b="b" t="t" l="l"/>
            <a:pathLst>
              <a:path h="2590881" w="10029962">
                <a:moveTo>
                  <a:pt x="0" y="0"/>
                </a:moveTo>
                <a:lnTo>
                  <a:pt x="10029962" y="0"/>
                </a:lnTo>
                <a:lnTo>
                  <a:pt x="10029962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975464" y="6428009"/>
            <a:ext cx="1312536" cy="1289974"/>
          </a:xfrm>
          <a:custGeom>
            <a:avLst/>
            <a:gdLst/>
            <a:ahLst/>
            <a:cxnLst/>
            <a:rect r="r" b="b" t="t" l="l"/>
            <a:pathLst>
              <a:path h="1289974" w="1312536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86384" y="5260585"/>
            <a:ext cx="5779008" cy="321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8"/>
              </a:lnSpc>
            </a:pPr>
            <a:r>
              <a:rPr lang="en-US" sz="2023" spc="-6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Un </a:t>
            </a:r>
            <a:r>
              <a:rPr lang="en-US" sz="2023" spc="-60" b="true">
                <a:solidFill>
                  <a:srgbClr val="E85A1C"/>
                </a:solidFill>
                <a:latin typeface="Inter Bold"/>
                <a:ea typeface="Inter Bold"/>
                <a:cs typeface="Inter Bold"/>
                <a:sym typeface="Inter Bold"/>
              </a:rPr>
              <a:t>enchainement clair</a:t>
            </a:r>
            <a:r>
              <a:rPr lang="en-US" sz="2023" spc="-6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d'étapes automatisées et manuelles pour valider chaque composant.</a:t>
            </a:r>
          </a:p>
          <a:p>
            <a:pPr algn="l">
              <a:lnSpc>
                <a:spcPts val="3238"/>
              </a:lnSpc>
            </a:pPr>
          </a:p>
          <a:p>
            <a:pPr algn="l">
              <a:lnSpc>
                <a:spcPts val="3238"/>
              </a:lnSpc>
            </a:pPr>
            <a:r>
              <a:rPr lang="en-US" sz="2023" spc="-6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Des </a:t>
            </a:r>
            <a:r>
              <a:rPr lang="en-US" sz="2023" spc="-60" b="true">
                <a:solidFill>
                  <a:srgbClr val="E85A1C"/>
                </a:solidFill>
                <a:latin typeface="Inter Bold"/>
                <a:ea typeface="Inter Bold"/>
                <a:cs typeface="Inter Bold"/>
                <a:sym typeface="Inter Bold"/>
              </a:rPr>
              <a:t>contrôles rigoureux</a:t>
            </a:r>
            <a:r>
              <a:rPr lang="en-US" sz="2023" spc="-6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sur le fonctionnel, le visuel et les performances.</a:t>
            </a:r>
          </a:p>
          <a:p>
            <a:pPr algn="l">
              <a:lnSpc>
                <a:spcPts val="3238"/>
              </a:lnSpc>
            </a:pPr>
          </a:p>
          <a:p>
            <a:pPr algn="l">
              <a:lnSpc>
                <a:spcPts val="3238"/>
              </a:lnSpc>
            </a:pPr>
            <a:r>
              <a:rPr lang="en-US" sz="2023" spc="-6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Une </a:t>
            </a:r>
            <a:r>
              <a:rPr lang="en-US" sz="2023" spc="-60" b="true">
                <a:solidFill>
                  <a:srgbClr val="E85A1C"/>
                </a:solidFill>
                <a:latin typeface="Inter Bold"/>
                <a:ea typeface="Inter Bold"/>
                <a:cs typeface="Inter Bold"/>
                <a:sym typeface="Inter Bold"/>
              </a:rPr>
              <a:t>intégration continue</a:t>
            </a:r>
            <a:r>
              <a:rPr lang="en-US" sz="2023" spc="-6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pour garantir</a:t>
            </a:r>
          </a:p>
          <a:p>
            <a:pPr algn="l">
              <a:lnSpc>
                <a:spcPts val="3238"/>
              </a:lnSpc>
            </a:pPr>
            <a:r>
              <a:rPr lang="en-US" sz="2023" spc="-6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la robustesse du design system.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93024" y="3819570"/>
            <a:ext cx="219456" cy="60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4"/>
              </a:lnSpc>
            </a:pPr>
            <a:r>
              <a:rPr lang="en-US" b="true" sz="3833" spc="-115">
                <a:solidFill>
                  <a:srgbClr val="E85A1C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76688" y="3819570"/>
            <a:ext cx="219456" cy="60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4"/>
              </a:lnSpc>
            </a:pPr>
            <a:r>
              <a:rPr lang="en-US" b="true" sz="3833" spc="-115">
                <a:solidFill>
                  <a:srgbClr val="E85A1C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15216" y="3819570"/>
            <a:ext cx="219456" cy="60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4"/>
              </a:lnSpc>
            </a:pPr>
            <a:r>
              <a:rPr lang="en-US" b="true" sz="3833" spc="-115">
                <a:solidFill>
                  <a:srgbClr val="E85A1C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72032" y="3819570"/>
            <a:ext cx="219456" cy="60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4"/>
              </a:lnSpc>
            </a:pPr>
            <a:r>
              <a:rPr lang="en-US" b="true" sz="3833" spc="-115">
                <a:solidFill>
                  <a:srgbClr val="E85A1C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020288" y="3819570"/>
            <a:ext cx="219456" cy="603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4"/>
              </a:lnSpc>
            </a:pPr>
            <a:r>
              <a:rPr lang="en-US" b="true" sz="3833" spc="-115">
                <a:solidFill>
                  <a:srgbClr val="E85A1C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6842" y="634055"/>
            <a:ext cx="7634584" cy="8800250"/>
          </a:xfrm>
          <a:custGeom>
            <a:avLst/>
            <a:gdLst/>
            <a:ahLst/>
            <a:cxnLst/>
            <a:rect r="r" b="b" t="t" l="l"/>
            <a:pathLst>
              <a:path h="8800250" w="7634584">
                <a:moveTo>
                  <a:pt x="0" y="0"/>
                </a:moveTo>
                <a:lnTo>
                  <a:pt x="7634584" y="0"/>
                </a:lnTo>
                <a:lnTo>
                  <a:pt x="7634584" y="8800250"/>
                </a:lnTo>
                <a:lnTo>
                  <a:pt x="0" y="8800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4672" y="1071372"/>
            <a:ext cx="6492240" cy="1304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92"/>
              </a:lnSpc>
            </a:pPr>
            <a:r>
              <a:rPr lang="en-US" sz="7637" spc="-22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Étapes clés du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4672" y="2114764"/>
            <a:ext cx="6858000" cy="128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40"/>
              </a:lnSpc>
            </a:pPr>
            <a:r>
              <a:rPr lang="en-US" sz="7528" spc="-225" b="true">
                <a:solidFill>
                  <a:srgbClr val="E15D1C"/>
                </a:solidFill>
                <a:latin typeface="Inter Bold"/>
                <a:ea typeface="Inter Bold"/>
                <a:cs typeface="Inter Bold"/>
                <a:sym typeface="Inter Bold"/>
              </a:rPr>
              <a:t>Pipeline Quality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01598" y="4711687"/>
            <a:ext cx="229694" cy="3869923"/>
          </a:xfrm>
          <a:custGeom>
            <a:avLst/>
            <a:gdLst/>
            <a:ahLst/>
            <a:cxnLst/>
            <a:rect r="r" b="b" t="t" l="l"/>
            <a:pathLst>
              <a:path h="3869923" w="229694">
                <a:moveTo>
                  <a:pt x="0" y="0"/>
                </a:moveTo>
                <a:lnTo>
                  <a:pt x="229694" y="0"/>
                </a:lnTo>
                <a:lnTo>
                  <a:pt x="22969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4086" y="3848060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3584" y="3925415"/>
            <a:ext cx="274320" cy="79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7"/>
              </a:lnSpc>
            </a:pPr>
            <a:r>
              <a:rPr lang="en-US" b="true" sz="4705" spc="-14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5456" y="3842890"/>
            <a:ext cx="4992624" cy="101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893" spc="-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Développement et mise à jour des composants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5356674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43584" y="5427317"/>
            <a:ext cx="274320" cy="79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7"/>
              </a:lnSpc>
            </a:pPr>
            <a:r>
              <a:rPr lang="en-US" b="true" sz="4705" spc="-14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05456" y="5355079"/>
            <a:ext cx="3255264" cy="101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893" spc="-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Tests automatiques unitaires et visuels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4086" y="6854356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43584" y="6939506"/>
            <a:ext cx="274320" cy="79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7"/>
              </a:lnSpc>
            </a:pPr>
            <a:r>
              <a:rPr lang="en-US" b="true" sz="4705" spc="-14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05456" y="6868231"/>
            <a:ext cx="3163824" cy="999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58" spc="-8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Revue manuelle</a:t>
            </a:r>
          </a:p>
          <a:p>
            <a:pPr algn="l">
              <a:lnSpc>
                <a:spcPts val="4001"/>
              </a:lnSpc>
            </a:pPr>
            <a:r>
              <a:rPr lang="en-US" sz="2858" spc="-8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et validation design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64086" y="8352038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505456" y="8369170"/>
            <a:ext cx="4443984" cy="1011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893" spc="-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Déploiement et monitoring en production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3584" y="8441408"/>
            <a:ext cx="274320" cy="79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7"/>
              </a:lnSpc>
            </a:pPr>
            <a:r>
              <a:rPr lang="en-US" b="true" sz="4705" spc="-14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675292" cy="10287000"/>
          </a:xfrm>
          <a:custGeom>
            <a:avLst/>
            <a:gdLst/>
            <a:ahLst/>
            <a:cxnLst/>
            <a:rect r="r" b="b" t="t" l="l"/>
            <a:pathLst>
              <a:path h="10287000" w="10675292">
                <a:moveTo>
                  <a:pt x="0" y="0"/>
                </a:moveTo>
                <a:lnTo>
                  <a:pt x="10675292" y="0"/>
                </a:lnTo>
                <a:lnTo>
                  <a:pt x="106752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0574" y="2142670"/>
            <a:ext cx="8717426" cy="7510275"/>
          </a:xfrm>
          <a:custGeom>
            <a:avLst/>
            <a:gdLst/>
            <a:ahLst/>
            <a:cxnLst/>
            <a:rect r="r" b="b" t="t" l="l"/>
            <a:pathLst>
              <a:path h="7510275" w="8717426">
                <a:moveTo>
                  <a:pt x="0" y="0"/>
                </a:moveTo>
                <a:lnTo>
                  <a:pt x="8717426" y="0"/>
                </a:lnTo>
                <a:lnTo>
                  <a:pt x="8717426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4066699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43584" y="4498226"/>
            <a:ext cx="5632704" cy="36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9"/>
              </a:lnSpc>
            </a:pPr>
            <a:r>
              <a:rPr lang="en-US" sz="2554" spc="-10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Moins de bugs et d’incohérences UI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2842" y="5138034"/>
            <a:ext cx="8061158" cy="229572"/>
          </a:xfrm>
          <a:custGeom>
            <a:avLst/>
            <a:gdLst/>
            <a:ahLst/>
            <a:cxnLst/>
            <a:rect r="r" b="b" t="t" l="l"/>
            <a:pathLst>
              <a:path h="229572" w="8061158">
                <a:moveTo>
                  <a:pt x="0" y="0"/>
                </a:moveTo>
                <a:lnTo>
                  <a:pt x="8061158" y="0"/>
                </a:lnTo>
                <a:lnTo>
                  <a:pt x="806115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5356674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43584" y="5784101"/>
            <a:ext cx="6547104" cy="36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9"/>
              </a:lnSpc>
            </a:pPr>
            <a:r>
              <a:rPr lang="en-US" sz="2554" spc="-10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Plus de temps gagné et meilleure fiabilité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82842" y="6428009"/>
            <a:ext cx="8061158" cy="218640"/>
          </a:xfrm>
          <a:custGeom>
            <a:avLst/>
            <a:gdLst/>
            <a:ahLst/>
            <a:cxnLst/>
            <a:rect r="r" b="b" t="t" l="l"/>
            <a:pathLst>
              <a:path h="218640" w="8061158">
                <a:moveTo>
                  <a:pt x="0" y="0"/>
                </a:moveTo>
                <a:lnTo>
                  <a:pt x="8061158" y="0"/>
                </a:lnTo>
                <a:lnTo>
                  <a:pt x="806115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5330" y="6635716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3584" y="7069976"/>
            <a:ext cx="7863840" cy="36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9"/>
              </a:lnSpc>
            </a:pPr>
            <a:r>
              <a:rPr lang="en-US" sz="2554" spc="-10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Amélioration continue grâce à des retours rapides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82842" y="7707051"/>
            <a:ext cx="8061158" cy="229572"/>
          </a:xfrm>
          <a:custGeom>
            <a:avLst/>
            <a:gdLst/>
            <a:ahLst/>
            <a:cxnLst/>
            <a:rect r="r" b="b" t="t" l="l"/>
            <a:pathLst>
              <a:path h="229572" w="8061158">
                <a:moveTo>
                  <a:pt x="0" y="0"/>
                </a:moveTo>
                <a:lnTo>
                  <a:pt x="8061158" y="0"/>
                </a:lnTo>
                <a:lnTo>
                  <a:pt x="806115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5330" y="7925691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43584" y="8355851"/>
            <a:ext cx="6784848" cy="363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9"/>
              </a:lnSpc>
            </a:pPr>
            <a:r>
              <a:rPr lang="en-US" sz="2554" spc="-102" b="true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Une expérience utilisateur finale renforcée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4944" y="1383955"/>
            <a:ext cx="6949440" cy="208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8"/>
              </a:lnSpc>
            </a:pPr>
            <a:r>
              <a:rPr lang="en-US" sz="7380" spc="-29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Bénéfices de la </a:t>
            </a:r>
            <a:r>
              <a:rPr lang="en-US" sz="7380" spc="-295" b="true">
                <a:solidFill>
                  <a:srgbClr val="E15C21"/>
                </a:solidFill>
                <a:latin typeface="Inter Bold"/>
                <a:ea typeface="Inter Bold"/>
                <a:cs typeface="Inter Bold"/>
                <a:sym typeface="Inter Bold"/>
              </a:rPr>
              <a:t>Quality Pipeline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4354" y="0"/>
            <a:ext cx="7623646" cy="10287000"/>
          </a:xfrm>
          <a:custGeom>
            <a:avLst/>
            <a:gdLst/>
            <a:ahLst/>
            <a:cxnLst/>
            <a:rect r="r" b="b" t="t" l="l"/>
            <a:pathLst>
              <a:path h="10287000" w="7623646">
                <a:moveTo>
                  <a:pt x="0" y="0"/>
                </a:moveTo>
                <a:lnTo>
                  <a:pt x="7623646" y="0"/>
                </a:lnTo>
                <a:lnTo>
                  <a:pt x="76236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96112" y="1715523"/>
            <a:ext cx="9363456" cy="245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1"/>
              </a:lnSpc>
            </a:pPr>
            <a:r>
              <a:rPr lang="en-US" sz="9048" spc="-54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Conclusion &amp; </a:t>
            </a:r>
            <a:r>
              <a:rPr lang="en-US" sz="9048" spc="-542" b="true">
                <a:solidFill>
                  <a:srgbClr val="E16522"/>
                </a:solidFill>
                <a:latin typeface="Inter Bold"/>
                <a:ea typeface="Inter Bold"/>
                <a:cs typeface="Inter Bold"/>
                <a:sym typeface="Inter Bold"/>
              </a:rPr>
              <a:t>Prochaines Étapes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4711687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6112" y="5373909"/>
            <a:ext cx="5779008" cy="96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9"/>
              </a:lnSpc>
            </a:pPr>
            <a:r>
              <a:rPr lang="en-US" sz="2723" spc="-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lang="en-US" sz="2723" spc="-81" b="true">
                <a:solidFill>
                  <a:srgbClr val="E16522"/>
                </a:solidFill>
                <a:latin typeface="Inter Bold"/>
                <a:ea typeface="Inter Bold"/>
                <a:cs typeface="Inter Bold"/>
                <a:sym typeface="Inter Bold"/>
              </a:rPr>
              <a:t>quality pipeline</a:t>
            </a:r>
            <a:r>
              <a:rPr lang="en-US" sz="2723" spc="-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est le socle d'un design system fiable et évolutif.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6112" y="6742080"/>
            <a:ext cx="8997696" cy="96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9"/>
              </a:lnSpc>
            </a:pPr>
            <a:r>
              <a:rPr lang="en-US" sz="2723" spc="-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Adoptons et </a:t>
            </a:r>
            <a:r>
              <a:rPr lang="en-US" sz="2723" spc="-81" b="true">
                <a:solidFill>
                  <a:srgbClr val="E16522"/>
                </a:solidFill>
                <a:latin typeface="Inter Bold"/>
                <a:ea typeface="Inter Bold"/>
                <a:cs typeface="Inter Bold"/>
                <a:sym typeface="Inter Bold"/>
              </a:rPr>
              <a:t>renforçons</a:t>
            </a:r>
            <a:r>
              <a:rPr lang="en-US" sz="2723" spc="-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ces pratiques</a:t>
            </a:r>
          </a:p>
          <a:p>
            <a:pPr algn="l">
              <a:lnSpc>
                <a:spcPts val="3949"/>
              </a:lnSpc>
            </a:pPr>
            <a:r>
              <a:rPr lang="en-US" sz="2723" spc="-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pour livrer des expériences cohérentes à grande échelle.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6112" y="8182260"/>
            <a:ext cx="8375904" cy="96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9"/>
              </a:lnSpc>
            </a:pPr>
            <a:r>
              <a:rPr lang="en-US" sz="2723" spc="-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Envie d'aller plus loin </a:t>
            </a:r>
            <a:r>
              <a:rPr lang="en-US" sz="2723" spc="-81" b="true">
                <a:solidFill>
                  <a:srgbClr val="E16522"/>
                </a:solidFill>
                <a:latin typeface="Inter Bold"/>
                <a:ea typeface="Inter Bold"/>
                <a:cs typeface="Inter Bold"/>
                <a:sym typeface="Inter Bold"/>
              </a:rPr>
              <a:t>?</a:t>
            </a:r>
          </a:p>
          <a:p>
            <a:pPr algn="l">
              <a:lnSpc>
                <a:spcPts val="3949"/>
              </a:lnSpc>
            </a:pPr>
            <a:r>
              <a:rPr lang="en-US" sz="2723" spc="-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Échangeons et construisons l'avenir de nos produits.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DAHWX9uCWds</dc:identifier>
  <dcterms:modified xsi:type="dcterms:W3CDTF">2011-08-01T06:04:30Z</dcterms:modified>
  <cp:revision>1</cp:revision>
  <dc:title>Pipeline qualité du design system</dc:title>
</cp:coreProperties>
</file>